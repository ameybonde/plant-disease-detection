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2F352-28FE-4EA8-B5C1-3F7FB8700288}" v="10" dt="2026-10-28T13:30:30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dehi Bonde" userId="0f216a48dd76f042" providerId="LiveId" clId="{819C7AD9-9D7B-4750-8DA0-E9A388BD5FDE}"/>
    <pc:docChg chg="undo custSel modSld">
      <pc:chgData name="Vaidehi Bonde" userId="0f216a48dd76f042" providerId="LiveId" clId="{819C7AD9-9D7B-4750-8DA0-E9A388BD5FDE}" dt="2026-10-28T13:34:56.525" v="265" actId="207"/>
      <pc:docMkLst>
        <pc:docMk/>
      </pc:docMkLst>
      <pc:sldChg chg="modSp mod">
        <pc:chgData name="Vaidehi Bonde" userId="0f216a48dd76f042" providerId="LiveId" clId="{819C7AD9-9D7B-4750-8DA0-E9A388BD5FDE}" dt="2026-10-28T13:34:56.525" v="265" actId="207"/>
        <pc:sldMkLst>
          <pc:docMk/>
          <pc:sldMk cId="1321006016" sldId="256"/>
        </pc:sldMkLst>
        <pc:spChg chg="mod">
          <ac:chgData name="Vaidehi Bonde" userId="0f216a48dd76f042" providerId="LiveId" clId="{819C7AD9-9D7B-4750-8DA0-E9A388BD5FDE}" dt="2026-10-28T13:34:15.187" v="258" actId="1076"/>
          <ac:spMkLst>
            <pc:docMk/>
            <pc:sldMk cId="1321006016" sldId="256"/>
            <ac:spMk id="4" creationId="{A21574E6-3155-469B-B53A-CB31EC0E7F42}"/>
          </ac:spMkLst>
        </pc:spChg>
        <pc:spChg chg="mod">
          <ac:chgData name="Vaidehi Bonde" userId="0f216a48dd76f042" providerId="LiveId" clId="{819C7AD9-9D7B-4750-8DA0-E9A388BD5FDE}" dt="2026-10-28T13:21:01.716" v="5" actId="20577"/>
          <ac:spMkLst>
            <pc:docMk/>
            <pc:sldMk cId="1321006016" sldId="256"/>
            <ac:spMk id="6" creationId="{78AACBA1-CB14-43C4-B8BD-11729554E1C8}"/>
          </ac:spMkLst>
        </pc:spChg>
        <pc:spChg chg="mod">
          <ac:chgData name="Vaidehi Bonde" userId="0f216a48dd76f042" providerId="LiveId" clId="{819C7AD9-9D7B-4750-8DA0-E9A388BD5FDE}" dt="2026-10-28T13:34:56.525" v="265" actId="207"/>
          <ac:spMkLst>
            <pc:docMk/>
            <pc:sldMk cId="1321006016" sldId="256"/>
            <ac:spMk id="9" creationId="{C499DFC0-F9E9-0747-A9CD-CA04F6BB89EA}"/>
          </ac:spMkLst>
        </pc:spChg>
      </pc:sldChg>
      <pc:sldChg chg="modSp mod">
        <pc:chgData name="Vaidehi Bonde" userId="0f216a48dd76f042" providerId="LiveId" clId="{819C7AD9-9D7B-4750-8DA0-E9A388BD5FDE}" dt="2026-10-28T13:28:20.005" v="223" actId="20577"/>
        <pc:sldMkLst>
          <pc:docMk/>
          <pc:sldMk cId="609597985" sldId="268"/>
        </pc:sldMkLst>
        <pc:spChg chg="mod">
          <ac:chgData name="Vaidehi Bonde" userId="0f216a48dd76f042" providerId="LiveId" clId="{819C7AD9-9D7B-4750-8DA0-E9A388BD5FDE}" dt="2026-10-28T13:25:03.853" v="113" actId="20577"/>
          <ac:spMkLst>
            <pc:docMk/>
            <pc:sldMk cId="609597985" sldId="268"/>
            <ac:spMk id="42" creationId="{00000000-0000-0000-0000-000000000000}"/>
          </ac:spMkLst>
        </pc:spChg>
        <pc:spChg chg="mod">
          <ac:chgData name="Vaidehi Bonde" userId="0f216a48dd76f042" providerId="LiveId" clId="{819C7AD9-9D7B-4750-8DA0-E9A388BD5FDE}" dt="2026-10-28T13:27:17.709" v="175" actId="20577"/>
          <ac:spMkLst>
            <pc:docMk/>
            <pc:sldMk cId="609597985" sldId="268"/>
            <ac:spMk id="43" creationId="{00000000-0000-0000-0000-000000000000}"/>
          </ac:spMkLst>
        </pc:spChg>
        <pc:spChg chg="mod">
          <ac:chgData name="Vaidehi Bonde" userId="0f216a48dd76f042" providerId="LiveId" clId="{819C7AD9-9D7B-4750-8DA0-E9A388BD5FDE}" dt="2026-10-28T13:28:20.005" v="223" actId="20577"/>
          <ac:spMkLst>
            <pc:docMk/>
            <pc:sldMk cId="609597985" sldId="268"/>
            <ac:spMk id="4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800">
                <a:solidFill>
                  <a:srgbClr val="252E27"/>
                </a:solidFill>
                <a:latin typeface="Aptos"/>
                <a:ea typeface="Aptos"/>
                <a:cs typeface="Aptos"/>
              </a:rPr>
              <a:t>Accuracy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Training</c:v>
          </c:tx>
          <c:spPr>
            <a:ln w="28575">
              <a:solidFill>
                <a:srgbClr val="244B36"/>
              </a:solidFill>
              <a:prstDash val="solid"/>
            </a:ln>
          </c:spPr>
          <c:marker>
            <c:symbol val="circle"/>
            <c:size val="6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0.65739999999999998</c:v>
                </c:pt>
                <c:pt idx="1">
                  <c:v>0.86550000000000005</c:v>
                </c:pt>
                <c:pt idx="2">
                  <c:v>0.93259999999999998</c:v>
                </c:pt>
                <c:pt idx="3">
                  <c:v>0.9587</c:v>
                </c:pt>
                <c:pt idx="4">
                  <c:v>0.9698</c:v>
                </c:pt>
                <c:pt idx="5">
                  <c:v>0.99739999999999995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C3B-4019-8C83-066AE4217583}"/>
            </c:ext>
          </c:extLst>
        </c:ser>
        <c:ser>
          <c:idx val="1"/>
          <c:order val="1"/>
          <c:tx>
            <c:v>Validation</c:v>
          </c:tx>
          <c:spPr>
            <a:ln w="28575">
              <a:solidFill>
                <a:srgbClr val="A37343"/>
              </a:solidFill>
              <a:prstDash val="solid"/>
            </a:ln>
          </c:spPr>
          <c:marker>
            <c:symbol val="circle"/>
            <c:size val="6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0.80220000000000002</c:v>
                </c:pt>
                <c:pt idx="1">
                  <c:v>0.8125</c:v>
                </c:pt>
                <c:pt idx="2">
                  <c:v>0.85250000000000004</c:v>
                </c:pt>
                <c:pt idx="3">
                  <c:v>0.85219999999999996</c:v>
                </c:pt>
                <c:pt idx="4">
                  <c:v>0.84409999999999996</c:v>
                </c:pt>
                <c:pt idx="5">
                  <c:v>0.89119999999999999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C3B-4019-8C83-066AE42175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ptos"/>
                    <a:ea typeface="Aptos"/>
                    <a:cs typeface="Aptos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D7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8F5EE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8F5EE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800">
                <a:solidFill>
                  <a:srgbClr val="252E27"/>
                </a:solidFill>
                <a:latin typeface="Aptos"/>
                <a:ea typeface="Aptos"/>
                <a:cs typeface="Aptos"/>
              </a:rPr>
              <a:t>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Training</c:v>
          </c:tx>
          <c:spPr>
            <a:ln w="28575">
              <a:solidFill>
                <a:srgbClr val="244B36"/>
              </a:solidFill>
              <a:prstDash val="solid"/>
            </a:ln>
          </c:spPr>
          <c:marker>
            <c:symbol val="circle"/>
            <c:size val="6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1.3046</c:v>
                </c:pt>
                <c:pt idx="1">
                  <c:v>0.43099999999999999</c:v>
                </c:pt>
                <c:pt idx="2">
                  <c:v>0.2114</c:v>
                </c:pt>
                <c:pt idx="3">
                  <c:v>0.12470000000000001</c:v>
                </c:pt>
                <c:pt idx="4">
                  <c:v>9.5699999999999993E-2</c:v>
                </c:pt>
                <c:pt idx="5">
                  <c:v>1.0999999999999999E-2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8C9-4A3C-B718-BD55B417F9C3}"/>
            </c:ext>
          </c:extLst>
        </c:ser>
        <c:ser>
          <c:idx val="1"/>
          <c:order val="1"/>
          <c:tx>
            <c:v>Validation</c:v>
          </c:tx>
          <c:spPr>
            <a:ln w="28575">
              <a:solidFill>
                <a:srgbClr val="A37343"/>
              </a:solidFill>
              <a:prstDash val="solid"/>
            </a:ln>
          </c:spPr>
          <c:marker>
            <c:symbol val="circle"/>
            <c:size val="6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0.66390000000000005</c:v>
                </c:pt>
                <c:pt idx="1">
                  <c:v>0.61040000000000005</c:v>
                </c:pt>
                <c:pt idx="2">
                  <c:v>0.50619999999999998</c:v>
                </c:pt>
                <c:pt idx="3">
                  <c:v>0.58979999999999999</c:v>
                </c:pt>
                <c:pt idx="4">
                  <c:v>0.67720000000000002</c:v>
                </c:pt>
                <c:pt idx="5">
                  <c:v>0.49480000000000002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8C9-4A3C-B718-BD55B417F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ptos"/>
                    <a:ea typeface="Aptos"/>
                    <a:cs typeface="Aptos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4"/>
          <c:min val="0"/>
        </c:scaling>
        <c:delete val="0"/>
        <c:axPos val="l"/>
        <c:majorGridlines>
          <c:spPr>
            <a:ln w="9525">
              <a:solidFill>
                <a:srgbClr val="DDE3D7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8F5EE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8F5EE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11A44A5-D9FA-43A0-9910-C00FAA6F6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8EC7CB3-C55B-4C40-9BF3-946583894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8FA0CD8-5913-4A51-A802-764B79480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B8CE904-3E3A-4C68-AC23-6EFF4F19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24ABE3E-8B0A-4F43-A98D-64BC1219B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85D0A0C-C940-4186-BA85-0F9C98B5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6187D9-1551-4663-808B-69BC25B13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74EE0C1-6BD3-4D62-B06C-4B15ADE2EB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0AA291-B27B-43AF-A3FA-88EE9FCB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D292630-8E24-4401-84B1-586B2A352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62F8D8-23C3-476A-A9D6-48DC4614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43" b="714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51010B3-CD2B-467C-BC5C-942D82F190F8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4775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C0574-867B-44BE-AA9D-6A668D6AF1DC}"/>
              </a:ext>
            </a:extLst>
          </p:cNvPr>
          <p:cNvSpPr>
            <a:spLocks noGrp="1"/>
          </p:cNvSpPr>
          <p:nvPr/>
        </p:nvSpPr>
        <p:spPr>
          <a:xfrm>
            <a:off x="666750" y="1382184"/>
            <a:ext cx="4878917" cy="1341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4000" b="0" dirty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Plant Disease</a:t>
            </a:r>
          </a:p>
          <a:p>
            <a:pPr>
              <a:defRPr sz="57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4000" b="0" dirty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1574E6-3155-469B-B53A-CB31EC0E7F42}"/>
              </a:ext>
            </a:extLst>
          </p:cNvPr>
          <p:cNvSpPr>
            <a:spLocks noGrp="1"/>
          </p:cNvSpPr>
          <p:nvPr/>
        </p:nvSpPr>
        <p:spPr>
          <a:xfrm>
            <a:off x="666750" y="2981324"/>
            <a:ext cx="5953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75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2175" b="0" dirty="0">
                <a:solidFill>
                  <a:srgbClr val="252E27"/>
                </a:solidFill>
                <a:latin typeface="Aptos"/>
                <a:ea typeface="Aptos"/>
                <a:cs typeface="Aptos"/>
              </a:rPr>
              <a:t>Using Convolutional Neural Networks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A24D620-E015-43B1-B415-265C603E74E8}"/>
              </a:ext>
            </a:extLst>
          </p:cNvPr>
          <p:cNvSpPr>
            <a:spLocks noGrp="1"/>
          </p:cNvSpPr>
          <p:nvPr/>
        </p:nvSpPr>
        <p:spPr>
          <a:xfrm>
            <a:off x="704850" y="5381625"/>
            <a:ext cx="47625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ACBA1-CB14-43C4-B8BD-11729554E1C8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rPr lang="en-US" dirty="0"/>
              <a:t>Deep Learning · Image Classification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879C2-CE0D-481B-99DA-A1C0DBAE0ED4}"/>
              </a:ext>
            </a:extLst>
          </p:cNvPr>
          <p:cNvSpPr>
            <a:spLocks noGrp="1"/>
          </p:cNvSpPr>
          <p:nvPr/>
        </p:nvSpPr>
        <p:spPr>
          <a:xfrm>
            <a:off x="9525000" y="64770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0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Illustrative cover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9DFC0-F9E9-0747-A9CD-CA04F6BB89EA}"/>
              </a:ext>
            </a:extLst>
          </p:cNvPr>
          <p:cNvSpPr txBox="1"/>
          <p:nvPr/>
        </p:nvSpPr>
        <p:spPr>
          <a:xfrm>
            <a:off x="666750" y="4427518"/>
            <a:ext cx="3998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44B36"/>
                </a:solidFill>
                <a:latin typeface="+mj-lt"/>
              </a:rPr>
              <a:t>Developed by</a:t>
            </a:r>
          </a:p>
          <a:p>
            <a:r>
              <a:rPr lang="en-US" sz="2000" b="1" dirty="0">
                <a:solidFill>
                  <a:srgbClr val="244B36"/>
                </a:solidFill>
                <a:latin typeface="+mj-lt"/>
              </a:rPr>
              <a:t>Amey Ravindra Bonde</a:t>
            </a:r>
          </a:p>
          <a:p>
            <a:r>
              <a:rPr lang="en-US" dirty="0">
                <a:solidFill>
                  <a:srgbClr val="244B36"/>
                </a:solidFill>
                <a:latin typeface="+mj-lt"/>
              </a:rPr>
              <a:t>COEP Technological University</a:t>
            </a:r>
          </a:p>
        </p:txBody>
      </p:sp>
    </p:spTree>
    <p:extLst>
      <p:ext uri="{BB962C8B-B14F-4D97-AF65-F5344CB8AC3E}">
        <p14:creationId xmlns:p14="http://schemas.microsoft.com/office/powerpoint/2010/main" val="132100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4ED0189-EFC2-4FEC-9833-A1ADE94D6DC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Project overview &amp; objectives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43550FA-08D0-4A7B-9AB1-F79D96A45B9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FBD26-7396-4431-9F0A-86B48FD2E7B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F4788-CCA6-4B2E-B557-9539C6B3159F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561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A leaf image as input.</a:t>
            </a:r>
          </a:p>
          <a:p>
            <a: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A plant–condition label</a:t>
            </a:r>
          </a:p>
          <a:p>
            <a: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as output.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66919-AA59-4B74-8C0B-F908EDC53640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143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A supervised classification prototype that learns visible patterns from labelled leaf images.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49839-F01F-4034-AFBE-386C4F2681B1}"/>
              </a:ext>
            </a:extLst>
          </p:cNvPr>
          <p:cNvSpPr>
            <a:spLocks noGrp="1"/>
          </p:cNvSpPr>
          <p:nvPr/>
        </p:nvSpPr>
        <p:spPr>
          <a:xfrm>
            <a:off x="7000875" y="16859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0B97F-EDB7-4CC0-90CB-7419B1871AB9}"/>
              </a:ext>
            </a:extLst>
          </p:cNvPr>
          <p:cNvSpPr>
            <a:spLocks noGrp="1"/>
          </p:cNvSpPr>
          <p:nvPr/>
        </p:nvSpPr>
        <p:spPr>
          <a:xfrm>
            <a:off x="7000875" y="2200275"/>
            <a:ext cx="4476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Visual symptoms can look similar across diseases. A consistent image classifier can support screening.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4B0D94-15B4-4CB0-8E11-978C3CF1B7EE}"/>
              </a:ext>
            </a:extLst>
          </p:cNvPr>
          <p:cNvSpPr>
            <a:spLocks noGrp="1"/>
          </p:cNvSpPr>
          <p:nvPr/>
        </p:nvSpPr>
        <p:spPr>
          <a:xfrm>
            <a:off x="7000875" y="34671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Objectives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3C9C9-0F0E-4ED5-A391-EE129876071B}"/>
              </a:ext>
            </a:extLst>
          </p:cNvPr>
          <p:cNvSpPr>
            <a:spLocks noGrp="1"/>
          </p:cNvSpPr>
          <p:nvPr/>
        </p:nvSpPr>
        <p:spPr>
          <a:xfrm>
            <a:off x="7000875" y="3981450"/>
            <a:ext cx="4476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Classify 38 healthy or diseased categories and measure performance on validation images.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B2052-9632-406D-B870-F90BA3D86A72}"/>
              </a:ext>
            </a:extLst>
          </p:cNvPr>
          <p:cNvSpPr>
            <a:spLocks noGrp="1"/>
          </p:cNvSpPr>
          <p:nvPr/>
        </p:nvSpPr>
        <p:spPr>
          <a:xfrm>
            <a:off x="7000875" y="5505450"/>
            <a:ext cx="447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Scope: single-leaf classification within known categories.</a:t>
            </a:r>
          </a:p>
        </p:txBody>
      </p:sp>
    </p:spTree>
    <p:extLst>
      <p:ext uri="{BB962C8B-B14F-4D97-AF65-F5344CB8AC3E}">
        <p14:creationId xmlns:p14="http://schemas.microsoft.com/office/powerpoint/2010/main" val="46162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F4C27CC-86C8-4804-BF73-751DF100EA1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Dataset overview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FB1EC1D-07EE-47A3-9848-5C78268FDF1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443662-0166-4FE9-BE65-2177C302F6F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01143-D979-467B-B5A5-8A0B42AEA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87834" y="1666875"/>
            <a:ext cx="5577782" cy="4143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6932A1-5A38-45CF-910E-6B5159FA84A3}"/>
              </a:ext>
            </a:extLst>
          </p:cNvPr>
          <p:cNvSpPr>
            <a:spLocks noGrp="1"/>
          </p:cNvSpPr>
          <p:nvPr/>
        </p:nvSpPr>
        <p:spPr>
          <a:xfrm>
            <a:off x="8620125" y="1695450"/>
            <a:ext cx="2762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54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33866-5171-414C-B6B3-B29D9A4FB45F}"/>
              </a:ext>
            </a:extLst>
          </p:cNvPr>
          <p:cNvSpPr>
            <a:spLocks noGrp="1"/>
          </p:cNvSpPr>
          <p:nvPr/>
        </p:nvSpPr>
        <p:spPr>
          <a:xfrm>
            <a:off x="8620125" y="260985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plant–condition categories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364E0-5BF8-4B21-BAE3-DCFDE86A3B25}"/>
              </a:ext>
            </a:extLst>
          </p:cNvPr>
          <p:cNvSpPr>
            <a:spLocks noGrp="1"/>
          </p:cNvSpPr>
          <p:nvPr/>
        </p:nvSpPr>
        <p:spPr>
          <a:xfrm>
            <a:off x="8620125" y="3657600"/>
            <a:ext cx="2952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8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54,305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60130F-DC26-4C56-8CD1-9FEE7404B6E6}"/>
              </a:ext>
            </a:extLst>
          </p:cNvPr>
          <p:cNvSpPr>
            <a:spLocks noGrp="1"/>
          </p:cNvSpPr>
          <p:nvPr/>
        </p:nvSpPr>
        <p:spPr>
          <a:xfrm>
            <a:off x="8620125" y="4467225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original images in</a:t>
            </a:r>
          </a:p>
          <a:p>
            <a: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the notebook copy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60B487-196E-4E7B-8A9A-BDB122C7FAF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Healthy and diseased leaves across multiple crops</a:t>
            </a:r>
          </a:p>
        </p:txBody>
      </p:sp>
    </p:spTree>
    <p:extLst>
      <p:ext uri="{BB962C8B-B14F-4D97-AF65-F5344CB8AC3E}">
        <p14:creationId xmlns:p14="http://schemas.microsoft.com/office/powerpoint/2010/main" val="13124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52010E-A347-4214-908A-7792EBEB59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Dataset preparation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2A198BF-6AEF-42BF-BCF2-A0062485532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6F3DF-12DA-4B63-AFEB-26F418A44F9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E4EAE7-8EBC-40C6-873D-F7C3ECD48AB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38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Reduce dominant classes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7737B-1540-491A-8B9C-490A8D5EC66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5381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Keep 2,000 each: orange citrus greening, tomato yellow leaf curl virus and soybean healthy.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0CDB6D-35DC-46D5-967B-41D3B9ADB471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38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Prepare image tensors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7EC9E-AEA9-439E-8C3E-7B79E61929AA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5381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Resize to 224 × 224 RGB. Divide pixel values by 255 to obtain values between 0 and 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67DBF4-6F1F-417D-816E-E09731C5D40F}"/>
              </a:ext>
            </a:extLst>
          </p:cNvPr>
          <p:cNvSpPr>
            <a:spLocks noGrp="1"/>
          </p:cNvSpPr>
          <p:nvPr/>
        </p:nvSpPr>
        <p:spPr>
          <a:xfrm>
            <a:off x="7334250" y="1647825"/>
            <a:ext cx="40481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48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44,351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B8AE9C-442E-4FD1-B513-60DB6E416A0A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images after downsampling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27D5C8-5BB9-469B-9B69-E212D17DF740}"/>
              </a:ext>
            </a:extLst>
          </p:cNvPr>
          <p:cNvGraphicFramePr/>
          <p:nvPr/>
        </p:nvGraphicFramePr>
        <p:xfrm>
          <a:off x="7000875" y="3305175"/>
          <a:ext cx="4572000" cy="200025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Subset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>
                      <a:solidFill>
                        <a:srgbClr val="DDE3D7"/>
                      </a:solidFill>
                      <a:prstDash val="soli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244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Images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>
                      <a:solidFill>
                        <a:srgbClr val="DDE3D7"/>
                      </a:solidFill>
                      <a:prstDash val="soli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244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Training ≈ 80%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35,492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Validation ≈ 20%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8,859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26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1559E6-F970-4E03-B6BD-D55933C62D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Target variable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68B76CD-A8B9-4BE8-A476-8D0A605CA9B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4EB189-5F67-48E5-9508-EE3D64A5AA5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E252D-9A9D-45CD-BFB5-005B649A302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One of 38 categories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15DE86-3E77-482D-92A8-C2A73232C97B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5953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Each label combines the crop name with its disease or healthy status.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4AFD4E-ABC2-4E6F-A563-1FA6550A1A95}"/>
              </a:ext>
            </a:extLst>
          </p:cNvPr>
          <p:cNvGraphicFramePr/>
          <p:nvPr/>
        </p:nvGraphicFramePr>
        <p:xfrm>
          <a:off x="609600" y="3857625"/>
          <a:ext cx="10972800" cy="2000252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Example class label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>
                      <a:solidFill>
                        <a:srgbClr val="DDE3D7"/>
                      </a:solidFill>
                      <a:prstDash val="soli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244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>
                      <a:solidFill>
                        <a:srgbClr val="DDE3D7"/>
                      </a:solidFill>
                      <a:prstDash val="soli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244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Apple___Black_rot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Apple leaf with black rot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Apple___healthy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Healthy apple leaf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Tomato___Early_blight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Tomato leaf with early blight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04E7B05-6DFF-4A9C-9B3C-D05DC9E194F9}"/>
              </a:ext>
            </a:extLst>
          </p:cNvPr>
          <p:cNvSpPr>
            <a:spLocks noGrp="1"/>
          </p:cNvSpPr>
          <p:nvPr/>
        </p:nvSpPr>
        <p:spPr>
          <a:xfrm>
            <a:off x="7905750" y="1733550"/>
            <a:ext cx="338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4CA35-11E0-47E4-92BA-DE6FFF51F70E}"/>
              </a:ext>
            </a:extLst>
          </p:cNvPr>
          <p:cNvSpPr>
            <a:spLocks noGrp="1"/>
          </p:cNvSpPr>
          <p:nvPr/>
        </p:nvSpPr>
        <p:spPr>
          <a:xfrm>
            <a:off x="7905750" y="2247900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One-hot encoded label</a:t>
            </a:r>
          </a:p>
          <a:p>
            <a:pPr>
              <a:defRPr sz="19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Length: 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86B385-38E4-42CB-9E9F-99FDE6DF93AF}"/>
              </a:ext>
            </a:extLst>
          </p:cNvPr>
          <p:cNvSpPr>
            <a:spLocks noGrp="1"/>
          </p:cNvSpPr>
          <p:nvPr/>
        </p:nvSpPr>
        <p:spPr>
          <a:xfrm>
            <a:off x="7905750" y="311467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Prediction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93595-AD11-40B6-927A-62D2F2254EF9}"/>
              </a:ext>
            </a:extLst>
          </p:cNvPr>
          <p:cNvSpPr>
            <a:spLocks noGrp="1"/>
          </p:cNvSpPr>
          <p:nvPr/>
        </p:nvSpPr>
        <p:spPr>
          <a:xfrm>
            <a:off x="7905750" y="35242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Highest softmax score</a:t>
            </a:r>
          </a:p>
        </p:txBody>
      </p:sp>
    </p:spTree>
    <p:extLst>
      <p:ext uri="{BB962C8B-B14F-4D97-AF65-F5344CB8AC3E}">
        <p14:creationId xmlns:p14="http://schemas.microsoft.com/office/powerpoint/2010/main" val="92622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6FD9647-902D-4AC9-8EDD-D3338C65D80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Modeling flow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3BEE5B3-B53D-4C95-93FD-2AF2B7ED52A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827E8C-99BE-4D0D-8229-AF7E8F21F1A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CF726-15A5-4174-B3E5-9C47BF373F81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90875" cy="1190625"/>
          </a:xfrm>
          <a:prstGeom prst="rect">
            <a:avLst/>
          </a:prstGeom>
          <a:solidFill>
            <a:srgbClr val="DDE3D7"/>
          </a:solidFill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B64F3-CCE2-4CDA-A70C-C3FC4707C8EA}"/>
              </a:ext>
            </a:extLst>
          </p:cNvPr>
          <p:cNvSpPr>
            <a:spLocks noGrp="1"/>
          </p:cNvSpPr>
          <p:nvPr/>
        </p:nvSpPr>
        <p:spPr>
          <a:xfrm>
            <a:off x="800100" y="1933575"/>
            <a:ext cx="2809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4B36"/>
                </a:solidFill>
                <a:latin typeface="Aptos"/>
                <a:ea typeface="Aptos"/>
                <a:cs typeface="Aptos"/>
              </a:rPr>
              <a:t>1. Load &amp; prepare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D42141-6AF4-4910-8206-5BD2572151E9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2809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Class folders, resize, rescale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D65BA3-0D68-4514-8E68-4E92FA2EA736}"/>
              </a:ext>
            </a:extLst>
          </p:cNvPr>
          <p:cNvSpPr>
            <a:spLocks noGrp="1"/>
          </p:cNvSpPr>
          <p:nvPr/>
        </p:nvSpPr>
        <p:spPr>
          <a:xfrm>
            <a:off x="3952875" y="21050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7B7F2D-ADAA-48EF-ACD6-140D5D8EC071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3190875" cy="1190625"/>
          </a:xfrm>
          <a:prstGeom prst="rect">
            <a:avLst/>
          </a:prstGeom>
          <a:solidFill>
            <a:srgbClr val="DDE3D7"/>
          </a:solidFill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2AB2F0-A11D-43F7-904F-FDA927BF2A2A}"/>
              </a:ext>
            </a:extLst>
          </p:cNvPr>
          <p:cNvSpPr>
            <a:spLocks noGrp="1"/>
          </p:cNvSpPr>
          <p:nvPr/>
        </p:nvSpPr>
        <p:spPr>
          <a:xfrm>
            <a:off x="4686300" y="1933575"/>
            <a:ext cx="2809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4B36"/>
                </a:solidFill>
                <a:latin typeface="Aptos"/>
                <a:ea typeface="Aptos"/>
                <a:cs typeface="Aptos"/>
              </a:rPr>
              <a:t>2. Split the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3F39C-2FE0-4413-B632-095C00A22C66}"/>
              </a:ext>
            </a:extLst>
          </p:cNvPr>
          <p:cNvSpPr>
            <a:spLocks noGrp="1"/>
          </p:cNvSpPr>
          <p:nvPr/>
        </p:nvSpPr>
        <p:spPr>
          <a:xfrm>
            <a:off x="4686300" y="2343150"/>
            <a:ext cx="2809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Training and 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518B4-850F-44E7-89FE-EF914EDCD927}"/>
              </a:ext>
            </a:extLst>
          </p:cNvPr>
          <p:cNvSpPr>
            <a:spLocks noGrp="1"/>
          </p:cNvSpPr>
          <p:nvPr/>
        </p:nvSpPr>
        <p:spPr>
          <a:xfrm>
            <a:off x="7810500" y="21050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C0F0E2-5B53-4AD6-9DD4-00F08DE23476}"/>
              </a:ext>
            </a:extLst>
          </p:cNvPr>
          <p:cNvSpPr>
            <a:spLocks noGrp="1"/>
          </p:cNvSpPr>
          <p:nvPr/>
        </p:nvSpPr>
        <p:spPr>
          <a:xfrm>
            <a:off x="8382000" y="1790700"/>
            <a:ext cx="3190875" cy="1190625"/>
          </a:xfrm>
          <a:prstGeom prst="rect">
            <a:avLst/>
          </a:prstGeom>
          <a:solidFill>
            <a:srgbClr val="DDE3D7"/>
          </a:solidFill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46D75D-12F3-4677-A8E1-950944A252F6}"/>
              </a:ext>
            </a:extLst>
          </p:cNvPr>
          <p:cNvSpPr>
            <a:spLocks noGrp="1"/>
          </p:cNvSpPr>
          <p:nvPr/>
        </p:nvSpPr>
        <p:spPr>
          <a:xfrm>
            <a:off x="8572500" y="1933575"/>
            <a:ext cx="2809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4B36"/>
                </a:solidFill>
                <a:latin typeface="Aptos"/>
                <a:ea typeface="Aptos"/>
                <a:cs typeface="Aptos"/>
              </a:rPr>
              <a:t>3. Train the CNN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C32CA-6FC6-457A-8D2E-5D1B11E14F07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809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Six epochs with Adam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0CF6CC-B01E-4C54-AA72-0A765B8D422E}"/>
              </a:ext>
            </a:extLst>
          </p:cNvPr>
          <p:cNvSpPr>
            <a:spLocks noGrp="1"/>
          </p:cNvSpPr>
          <p:nvPr/>
        </p:nvSpPr>
        <p:spPr>
          <a:xfrm>
            <a:off x="9715500" y="32099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083530-CE3C-4F2A-B73E-07780CC27C65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190875" cy="1190625"/>
          </a:xfrm>
          <a:prstGeom prst="rect">
            <a:avLst/>
          </a:prstGeom>
          <a:solidFill>
            <a:srgbClr val="DDE3D7"/>
          </a:solidFill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1301E0-AF87-49F5-AC27-EBEF86C305A5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2809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4B36"/>
                </a:solidFill>
                <a:latin typeface="Aptos"/>
                <a:ea typeface="Aptos"/>
                <a:cs typeface="Aptos"/>
              </a:rPr>
              <a:t>6. Predict a label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7535E-57B9-41E3-AFC0-61D4D9765B95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2809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Preprocess, argmax, class 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E484ED-DD25-462F-9126-56F48158AE2F}"/>
              </a:ext>
            </a:extLst>
          </p:cNvPr>
          <p:cNvSpPr>
            <a:spLocks noGrp="1"/>
          </p:cNvSpPr>
          <p:nvPr/>
        </p:nvSpPr>
        <p:spPr>
          <a:xfrm>
            <a:off x="3952875" y="43148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15035-36E7-441A-96C1-1E04AA078A52}"/>
              </a:ext>
            </a:extLst>
          </p:cNvPr>
          <p:cNvSpPr>
            <a:spLocks noGrp="1"/>
          </p:cNvSpPr>
          <p:nvPr/>
        </p:nvSpPr>
        <p:spPr>
          <a:xfrm>
            <a:off x="4495800" y="4000500"/>
            <a:ext cx="3190875" cy="1190625"/>
          </a:xfrm>
          <a:prstGeom prst="rect">
            <a:avLst/>
          </a:prstGeom>
          <a:solidFill>
            <a:srgbClr val="DDE3D7"/>
          </a:solidFill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945298-20F6-4E3A-BCEA-7439A031C366}"/>
              </a:ext>
            </a:extLst>
          </p:cNvPr>
          <p:cNvSpPr>
            <a:spLocks noGrp="1"/>
          </p:cNvSpPr>
          <p:nvPr/>
        </p:nvSpPr>
        <p:spPr>
          <a:xfrm>
            <a:off x="4686300" y="4143375"/>
            <a:ext cx="2809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4B36"/>
                </a:solidFill>
                <a:latin typeface="Aptos"/>
                <a:ea typeface="Aptos"/>
                <a:cs typeface="Aptos"/>
              </a:rPr>
              <a:t>5. Evaluate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5F7FA-76E7-4670-9389-0E371B2610DE}"/>
              </a:ext>
            </a:extLst>
          </p:cNvPr>
          <p:cNvSpPr>
            <a:spLocks noGrp="1"/>
          </p:cNvSpPr>
          <p:nvPr/>
        </p:nvSpPr>
        <p:spPr>
          <a:xfrm>
            <a:off x="4686300" y="4552950"/>
            <a:ext cx="2809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Accuracy, F1, confusion matrix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10051-D518-4649-A6EE-B12BEECEDAC5}"/>
              </a:ext>
            </a:extLst>
          </p:cNvPr>
          <p:cNvSpPr>
            <a:spLocks noGrp="1"/>
          </p:cNvSpPr>
          <p:nvPr/>
        </p:nvSpPr>
        <p:spPr>
          <a:xfrm>
            <a:off x="7810500" y="43148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0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44B36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DDB1AE-497D-4D1D-B86A-6A784EE2A181}"/>
              </a:ext>
            </a:extLst>
          </p:cNvPr>
          <p:cNvSpPr>
            <a:spLocks noGrp="1"/>
          </p:cNvSpPr>
          <p:nvPr/>
        </p:nvSpPr>
        <p:spPr>
          <a:xfrm>
            <a:off x="8382000" y="4000500"/>
            <a:ext cx="3190875" cy="1190625"/>
          </a:xfrm>
          <a:prstGeom prst="rect">
            <a:avLst/>
          </a:prstGeom>
          <a:solidFill>
            <a:srgbClr val="DDE3D7"/>
          </a:solidFill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12B078-1525-4FF9-B8A6-4374E7915797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809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244B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4B36"/>
                </a:solidFill>
                <a:latin typeface="Aptos"/>
                <a:ea typeface="Aptos"/>
                <a:cs typeface="Aptos"/>
              </a:rPr>
              <a:t>4. Select checkpoint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1B240E-5E93-4169-B5DD-E18CF1E15306}"/>
              </a:ext>
            </a:extLst>
          </p:cNvPr>
          <p:cNvSpPr>
            <a:spLocks noGrp="1"/>
          </p:cNvSpPr>
          <p:nvPr/>
        </p:nvSpPr>
        <p:spPr>
          <a:xfrm>
            <a:off x="8572500" y="4552950"/>
            <a:ext cx="2809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Highest validation accuracy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59599F-CBC7-4B46-97E3-0475F2626C82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85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The saved CNN powers the Streamlit app for uploaded leaf disease prediction.</a:t>
            </a:r>
          </a:p>
        </p:txBody>
      </p:sp>
    </p:spTree>
    <p:extLst>
      <p:ext uri="{BB962C8B-B14F-4D97-AF65-F5344CB8AC3E}">
        <p14:creationId xmlns:p14="http://schemas.microsoft.com/office/powerpoint/2010/main" val="193269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2CD81B7-A045-43B3-9886-2455E039B2C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CNN architecture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5694A60-EF05-4049-9EFC-155729A47F3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1326-528A-4DEA-9C74-3F535D57A78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" y="2066543"/>
            <a:ext cx="1219581" cy="1636776"/>
          </a:xfrm>
          <a:prstGeom prst="rect">
            <a:avLst/>
          </a:prstGeom>
          <a:solidFill>
            <a:srgbClr val="DDE3D7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Input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0936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224 × 224 ×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RGB image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36801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05965" y="2066543"/>
            <a:ext cx="1219581" cy="1636776"/>
          </a:xfrm>
          <a:prstGeom prst="rect">
            <a:avLst/>
          </a:prstGeom>
          <a:solidFill>
            <a:srgbClr val="E4EADF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51685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Conv2D (32)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133981" y="2688336"/>
            <a:ext cx="963548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024253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222 × 222 × 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24253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3 × 3 · ReLU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30118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99282" y="2066543"/>
            <a:ext cx="1219581" cy="1636776"/>
          </a:xfrm>
          <a:prstGeom prst="rect">
            <a:avLst/>
          </a:prstGeom>
          <a:solidFill>
            <a:srgbClr val="E4EADF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45001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MaxPool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527298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17570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111 × 111 × 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7570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2 ×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3434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92599" y="2066543"/>
            <a:ext cx="1219581" cy="1636776"/>
          </a:xfrm>
          <a:prstGeom prst="rect">
            <a:avLst/>
          </a:prstGeom>
          <a:solidFill>
            <a:srgbClr val="E4EADF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38319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Conv2D (64)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920615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10887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109 × 109 × 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0887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3 × 3 · ReLU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16752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85916" y="2066543"/>
            <a:ext cx="1219581" cy="1636776"/>
          </a:xfrm>
          <a:prstGeom prst="rect">
            <a:avLst/>
          </a:prstGeom>
          <a:solidFill>
            <a:srgbClr val="E4EADF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31636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MaxPool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313931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204203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54 × 54 × 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04203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2 ×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10069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79233" y="2066543"/>
            <a:ext cx="1219581" cy="1636776"/>
          </a:xfrm>
          <a:prstGeom prst="rect">
            <a:avLst/>
          </a:prstGeom>
          <a:solidFill>
            <a:srgbClr val="DDE3D7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24953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Flatten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707249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597521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186,624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97521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features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03386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72550" y="2066543"/>
            <a:ext cx="1219581" cy="1636776"/>
          </a:xfrm>
          <a:prstGeom prst="rect">
            <a:avLst/>
          </a:prstGeom>
          <a:solidFill>
            <a:srgbClr val="DDE3D7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18270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Dense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100566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990838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256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0838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ReLU units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6703" y="2660904"/>
            <a:ext cx="1645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4B36"/>
                </a:solidFill>
                <a:latin typeface="Aptos"/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65867" y="2066543"/>
            <a:ext cx="1219581" cy="1636776"/>
          </a:xfrm>
          <a:prstGeom prst="rect">
            <a:avLst/>
          </a:prstGeom>
          <a:solidFill>
            <a:srgbClr val="DDE3D7"/>
          </a:solidFill>
          <a:ln w="10160">
            <a:solidFill>
              <a:srgbClr val="799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411587" y="2221992"/>
            <a:ext cx="1128141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4B36"/>
                </a:solidFill>
                <a:latin typeface="Aptos"/>
              </a:rPr>
              <a:t>Softmax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0493883" y="2688336"/>
            <a:ext cx="963549" cy="0"/>
          </a:xfrm>
          <a:prstGeom prst="line">
            <a:avLst/>
          </a:prstGeom>
          <a:ln w="762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384155" y="2798064"/>
            <a:ext cx="1183005" cy="420624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38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84155" y="3218688"/>
            <a:ext cx="1183005" cy="320040"/>
          </a:xfrm>
          <a:prstGeom prst="rect">
            <a:avLst/>
          </a:prstGeom>
          <a:noFill/>
        </p:spPr>
        <p:txBody>
          <a:bodyPr wrap="square" lIns="4572" tIns="4572" rIns="4572" bIns="457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67166"/>
                </a:solidFill>
                <a:latin typeface="Aptos"/>
              </a:rPr>
              <a:t>classes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12648" y="4087368"/>
            <a:ext cx="1216152" cy="0"/>
          </a:xfrm>
          <a:prstGeom prst="line">
            <a:avLst/>
          </a:prstGeom>
          <a:ln w="889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02536" y="4087368"/>
            <a:ext cx="5367528" cy="0"/>
          </a:xfrm>
          <a:prstGeom prst="line">
            <a:avLst/>
          </a:prstGeom>
          <a:ln w="1397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43800" y="4087368"/>
            <a:ext cx="4023360" cy="0"/>
          </a:xfrm>
          <a:prstGeom prst="line">
            <a:avLst/>
          </a:prstGeom>
          <a:ln w="1397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21792" y="4142232"/>
            <a:ext cx="1243584" cy="3931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166"/>
                </a:solidFill>
                <a:latin typeface="Aptos"/>
              </a:rPr>
              <a:t>Image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93392" y="4142232"/>
            <a:ext cx="5394960" cy="3931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4B36"/>
                </a:solidFill>
                <a:latin typeface="Aptos"/>
              </a:rPr>
              <a:t>Feature extraction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71231" y="4142232"/>
            <a:ext cx="3968496" cy="3931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4B36"/>
                </a:solidFill>
                <a:latin typeface="Aptos"/>
              </a:rPr>
              <a:t>Classification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" y="4983480"/>
            <a:ext cx="10972800" cy="1014984"/>
          </a:xfrm>
          <a:prstGeom prst="rect">
            <a:avLst/>
          </a:prstGeom>
          <a:solidFill>
            <a:srgbClr val="EFECE5"/>
          </a:solidFill>
          <a:ln w="1016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2104" y="5084064"/>
            <a:ext cx="10570464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30" b="1">
                <a:solidFill>
                  <a:srgbClr val="244B36"/>
                </a:solidFill>
                <a:latin typeface="Aptos"/>
              </a:rPr>
              <a:t>CUSTOM SEQUENTIAL CNN   •   47,805,158 trainable parameters   •   38 output classes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" y="5504688"/>
            <a:ext cx="10533888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7343"/>
                </a:solidFill>
                <a:latin typeface="Aptos"/>
              </a:rPr>
              <a:t>Dense(256) contributes 47,776,000 parameters; each convolution uses valid padding.</a:t>
            </a:r>
          </a:p>
        </p:txBody>
      </p:sp>
    </p:spTree>
    <p:extLst>
      <p:ext uri="{BB962C8B-B14F-4D97-AF65-F5344CB8AC3E}">
        <p14:creationId xmlns:p14="http://schemas.microsoft.com/office/powerpoint/2010/main" val="1648136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DB812-B13D-48F6-BB27-81456921294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Implementation &amp; model selection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2953F41-4559-4486-993A-E1DD7B2BA2C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19E5B-2BEC-4B89-A98F-C8D44529360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C2AE78-540F-46B0-AD01-D459F2E929F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04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4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TensorFlow / Keras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DCB1C-9F48-48EF-B32B-AB8F19F3EF3D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7000875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model.compile(</a:t>
            </a: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  optimizer=Adam(learning_rate=1e-3),</a:t>
            </a: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  loss="categorical_crossentropy",</a:t>
            </a: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  metrics=["accuracy"]</a:t>
            </a: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)</a:t>
            </a:r>
          </a:p>
          <a:p>
            <a:endParaRPr sz="1650" b="0">
              <a:solidFill>
                <a:srgbClr val="252E27"/>
              </a:solidFill>
              <a:latin typeface="Aptos"/>
              <a:ea typeface="Aptos"/>
              <a:cs typeface="Aptos"/>
            </a:endParaRP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model.fit(train_generator, epochs=6,</a:t>
            </a: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  validation_data=validation_generator,</a:t>
            </a:r>
          </a:p>
          <a:p>
            <a:pPr>
              <a:defRPr sz="1650" b="0">
                <a:solidFill>
                  <a:srgbClr val="252E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2E27"/>
                </a:solidFill>
                <a:latin typeface="Aptos"/>
                <a:ea typeface="Aptos"/>
                <a:cs typeface="Aptos"/>
              </a:rPr>
              <a:t>  callbacks=callbacks)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CE814-CB54-433C-9C71-DC5511C23935}"/>
              </a:ext>
            </a:extLst>
          </p:cNvPr>
          <p:cNvSpPr>
            <a:spLocks noGrp="1"/>
          </p:cNvSpPr>
          <p:nvPr/>
        </p:nvSpPr>
        <p:spPr>
          <a:xfrm>
            <a:off x="8286750" y="1685925"/>
            <a:ext cx="319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Training setup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1D74F8-EA7F-4EB2-8AB8-2268000DCA85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3190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Batch size 32</a:t>
            </a:r>
          </a:p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Adam optimizer</a:t>
            </a:r>
          </a:p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Six epochs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94881-B7D6-420B-B084-6BDA0532A5D2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319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Best checkpoint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B6693-F2EE-450B-8368-CA7F99264427}"/>
              </a:ext>
            </a:extLst>
          </p:cNvPr>
          <p:cNvSpPr>
            <a:spLocks noGrp="1"/>
          </p:cNvSpPr>
          <p:nvPr/>
        </p:nvSpPr>
        <p:spPr>
          <a:xfrm>
            <a:off x="8286750" y="3990975"/>
            <a:ext cx="3190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Monitor validation accuracy. Reload the best saved model after training.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C25403-6ADD-4AA9-B4E9-AC15E8C3A87C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A373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37343"/>
                </a:solidFill>
                <a:latin typeface="Aptos"/>
                <a:ea typeface="Aptos"/>
                <a:cs typeface="Aptos"/>
              </a:rPr>
              <a:t>One custom CNN is evaluated. The saved checkpoints do not constitute a comparison of different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201428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9C50C-4867-4299-9686-741CFC963E2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Training graphs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1D50728-2E68-404B-9B1D-4CF1F07D9B7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667DCE-FB7E-4D6E-B196-5092BF6F7365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B9411999-2662-4B11-A023-40480BBDAED2}"/>
              </a:ext>
            </a:extLst>
          </p:cNvPr>
          <p:cNvGraphicFramePr/>
          <p:nvPr/>
        </p:nvGraphicFramePr>
        <p:xfrm>
          <a:off x="590550" y="1638300"/>
          <a:ext cx="5286375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187FD119-BBA3-4102-8E05-093D648D83CF}"/>
              </a:ext>
            </a:extLst>
          </p:cNvPr>
          <p:cNvGraphicFramePr/>
          <p:nvPr/>
        </p:nvGraphicFramePr>
        <p:xfrm>
          <a:off x="6315075" y="1638300"/>
          <a:ext cx="5286375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42FE1B0-3D68-493E-A6A6-A20E7C5A7B34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99.74% training     89.12%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19A9B1-CA53-4EC0-9B8C-7F735D877471}"/>
              </a:ext>
            </a:extLst>
          </p:cNvPr>
          <p:cNvSpPr>
            <a:spLocks noGrp="1"/>
          </p:cNvSpPr>
          <p:nvPr/>
        </p:nvSpPr>
        <p:spPr>
          <a:xfrm>
            <a:off x="609600" y="6010275"/>
            <a:ext cx="1076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The 10.62 percentage-point accuracy gap indicates overfitting.</a:t>
            </a:r>
          </a:p>
        </p:txBody>
      </p:sp>
    </p:spTree>
    <p:extLst>
      <p:ext uri="{BB962C8B-B14F-4D97-AF65-F5344CB8AC3E}">
        <p14:creationId xmlns:p14="http://schemas.microsoft.com/office/powerpoint/2010/main" val="1127980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082E74-7927-4781-BE29-09175283DF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Evaluation results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E5B4E8A-6A43-41A8-BBFB-D886AD6117A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EDA13-F020-4A45-937D-BB984B7327A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406CC-F8C6-4741-98D8-9D21B71DA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5758" y="1619250"/>
            <a:ext cx="4461734" cy="4524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F038F7-7FE2-433C-A345-42130414C8EF}"/>
              </a:ext>
            </a:extLst>
          </p:cNvPr>
          <p:cNvSpPr>
            <a:spLocks noGrp="1"/>
          </p:cNvSpPr>
          <p:nvPr/>
        </p:nvSpPr>
        <p:spPr>
          <a:xfrm>
            <a:off x="7239000" y="1647825"/>
            <a:ext cx="428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525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89.12%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1F0F06-7A76-4706-862C-55C873DB0835}"/>
              </a:ext>
            </a:extLst>
          </p:cNvPr>
          <p:cNvSpPr>
            <a:spLocks noGrp="1"/>
          </p:cNvSpPr>
          <p:nvPr/>
        </p:nvSpPr>
        <p:spPr>
          <a:xfrm>
            <a:off x="7286625" y="25527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validation accuracy on 8,859 images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F3C758-08DA-4233-9443-C007249B8085}"/>
              </a:ext>
            </a:extLst>
          </p:cNvPr>
          <p:cNvGraphicFramePr/>
          <p:nvPr/>
        </p:nvGraphicFramePr>
        <p:xfrm>
          <a:off x="7191375" y="3381375"/>
          <a:ext cx="4381500" cy="2333624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Metric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>
                      <a:solidFill>
                        <a:srgbClr val="DDE3D7"/>
                      </a:solidFill>
                      <a:prstDash val="soli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244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Score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>
                      <a:solidFill>
                        <a:srgbClr val="DDE3D7"/>
                      </a:solidFill>
                      <a:prstDash val="soli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244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Macro F1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0.8762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Weighted F1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0.8904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Validation loss</a:t>
                      </a:r>
                    </a:p>
                  </a:txBody>
                  <a:tcPr>
                    <a:lnL w="9525">
                      <a:solidFill>
                        <a:srgbClr val="DDE3D7"/>
                      </a:solidFill>
                      <a:prstDash val="soli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7"/>
                          </a:solidFill>
                          <a:latin typeface="Aptos"/>
                          <a:ea typeface="Aptos"/>
                          <a:cs typeface="Aptos"/>
                        </a:rPr>
                        <a:t>0.4948</a:t>
                      </a:r>
                    </a:p>
                  </a:txBody>
                  <a:tcPr>
                    <a:lnL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3D7"/>
                      </a:solidFill>
                      <a:prstDash val="solid"/>
                    </a:lnR>
                    <a:lnT w="9525" cap="flat" cmpd="sng" algn="ctr">
                      <a:solidFill>
                        <a:srgbClr val="D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3D7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BC5121E-8F86-4D7D-9810-3AB9780AA2CC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Diagonal entries show correct classifications. Results use the checkpoint-selection split.</a:t>
            </a:r>
          </a:p>
        </p:txBody>
      </p:sp>
    </p:spTree>
    <p:extLst>
      <p:ext uri="{BB962C8B-B14F-4D97-AF65-F5344CB8AC3E}">
        <p14:creationId xmlns:p14="http://schemas.microsoft.com/office/powerpoint/2010/main" val="163596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7F2C2A-9DB5-40E9-92BF-744A9F738CF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 dirty="0" err="1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Streamlit</a:t>
            </a:r>
            <a:r>
              <a:rPr sz="3600" b="0" dirty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 </a:t>
            </a:r>
            <a:r>
              <a:rPr lang="en-US" dirty="0"/>
              <a:t>Interface</a:t>
            </a:r>
          </a:p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endParaRPr sz="3600" b="0" dirty="0">
              <a:solidFill>
                <a:srgbClr val="244B36"/>
              </a:solidFill>
              <a:latin typeface="Nimbus Roman"/>
              <a:ea typeface="Nimbus Roman"/>
              <a:cs typeface="Nimbus Roman"/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8F2E8B9-D093-4262-9C2C-5545595801F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538650-20F8-48C8-9A89-F489A1A280C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1490472"/>
            <a:ext cx="7598664" cy="4777740"/>
          </a:xfrm>
          <a:prstGeom prst="rect">
            <a:avLst/>
          </a:prstGeom>
          <a:noFill/>
          <a:ln w="10160">
            <a:solidFill>
              <a:srgbClr val="A6B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treamlit_paper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99616"/>
            <a:ext cx="7580375" cy="47720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85632" y="1527048"/>
            <a:ext cx="2816352" cy="3383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244B36"/>
                </a:solidFill>
                <a:latin typeface="Aptos"/>
              </a:rPr>
              <a:t>Live prediction workflow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67344" y="1938528"/>
            <a:ext cx="2990088" cy="0"/>
          </a:xfrm>
          <a:prstGeom prst="line">
            <a:avLst/>
          </a:prstGeom>
          <a:ln w="10160">
            <a:solidFill>
              <a:srgbClr val="A6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58200" y="2103120"/>
            <a:ext cx="4114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A37343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103120"/>
            <a:ext cx="251460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244B36"/>
                </a:solidFill>
                <a:latin typeface="Aptos"/>
              </a:rPr>
              <a:t>Upload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450591"/>
            <a:ext cx="252374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41463F"/>
                </a:solidFill>
                <a:latin typeface="Aptos"/>
              </a:rPr>
              <a:t>JPG, JPEG, PNG or WEBP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035808"/>
            <a:ext cx="4114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A37343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035808"/>
            <a:ext cx="251460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244B36"/>
                </a:solidFill>
                <a:latin typeface="Aptos"/>
              </a:rPr>
              <a:t>Preprocess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383279"/>
            <a:ext cx="252374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41463F"/>
                </a:solidFill>
                <a:latin typeface="Aptos"/>
              </a:rPr>
              <a:t>RGB → 224 × 224 → ÷255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968496"/>
            <a:ext cx="4114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A37343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968496"/>
            <a:ext cx="251460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244B36"/>
                </a:solidFill>
                <a:latin typeface="Aptos"/>
              </a:rPr>
              <a:t>CNN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315968"/>
            <a:ext cx="252374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41463F"/>
                </a:solidFill>
                <a:latin typeface="Aptos"/>
              </a:rPr>
              <a:t>Class label + softmax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9912" y="4992624"/>
            <a:ext cx="3090672" cy="1261872"/>
          </a:xfrm>
          <a:prstGeom prst="rect">
            <a:avLst/>
          </a:prstGeom>
          <a:solidFill>
            <a:srgbClr val="ECE8DF"/>
          </a:solidFill>
          <a:ln w="10160">
            <a:solidFill>
              <a:srgbClr val="D0C9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13648" y="5084064"/>
            <a:ext cx="2734056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244B36"/>
                </a:solidFill>
                <a:latin typeface="Aptos"/>
              </a:rPr>
              <a:t>EXAMPLE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5376672"/>
            <a:ext cx="2724912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44B36"/>
                </a:solidFill>
                <a:latin typeface="Aptos"/>
              </a:rPr>
              <a:t>Tomato Yellow Leaf Curl Virus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5760720"/>
            <a:ext cx="2734056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A37343"/>
                </a:solidFill>
                <a:latin typeface="Aptos"/>
              </a:rPr>
              <a:t>100% softmax ≠ proven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2E83570-EC3F-47DF-94F7-2E818BB4A39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Conclusion &amp; future potential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75EF594-339B-4BCA-A66B-165E47B1479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8424F-85DF-457E-B284-276F2F98998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AFB6E-378F-4425-B76E-87B01F6EA50E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8108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A complete training pipeline</a:t>
            </a:r>
          </a:p>
          <a:p>
            <a:pPr>
              <a:def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3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for 38 leaf-image categories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8A23C-9B90-4FEF-A639-323E5BCEA58A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5095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Current achievement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7DB0C-CD38-4932-8A66-9797EC98A405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095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Custom CNN with 89.12% recorded validation accuracy. Streamlit application enables image upload and disease prediction.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3EF5EE-2E79-42CF-838E-04DC4F778809}"/>
              </a:ext>
            </a:extLst>
          </p:cNvPr>
          <p:cNvSpPr>
            <a:spLocks noGrp="1"/>
          </p:cNvSpPr>
          <p:nvPr/>
        </p:nvSpPr>
        <p:spPr>
          <a:xfrm>
            <a:off x="6953250" y="323850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Future 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ADF25F-34CE-4DA1-BD35-654DE382004E}"/>
              </a:ext>
            </a:extLst>
          </p:cNvPr>
          <p:cNvSpPr>
            <a:spLocks noGrp="1"/>
          </p:cNvSpPr>
          <p:nvPr/>
        </p:nvSpPr>
        <p:spPr>
          <a:xfrm>
            <a:off x="6953250" y="3752850"/>
            <a:ext cx="4619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Test independent field images. Add augmentation and a smaller model. Improve confidence calibration and explore a mobile interface.</a:t>
            </a:r>
          </a:p>
        </p:txBody>
      </p:sp>
    </p:spTree>
    <p:extLst>
      <p:ext uri="{BB962C8B-B14F-4D97-AF65-F5344CB8AC3E}">
        <p14:creationId xmlns:p14="http://schemas.microsoft.com/office/powerpoint/2010/main" val="1423738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7F2C2A-9DB5-40E9-92BF-744A9F738CF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defRPr>
            </a:pPr>
            <a:r>
              <a:rPr sz="3600" b="0">
                <a:solidFill>
                  <a:srgbClr val="244B36"/>
                </a:solidFill>
                <a:latin typeface="Nimbus Roman"/>
                <a:ea typeface="Nimbus Roman"/>
                <a:cs typeface="Nimbus Roman"/>
              </a:rPr>
              <a:t>References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8F2E8B9-D093-4262-9C2C-5545595801F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ln w="9525">
            <a:solidFill>
              <a:srgbClr val="24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538650-20F8-48C8-9A89-F489A1A280C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6671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1572768"/>
            <a:ext cx="5294376" cy="1335024"/>
          </a:xfrm>
          <a:prstGeom prst="rect">
            <a:avLst/>
          </a:prstGeom>
          <a:solidFill>
            <a:srgbClr val="F5F2EB"/>
          </a:solidFill>
          <a:ln w="10160">
            <a:solidFill>
              <a:srgbClr val="D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1664208"/>
            <a:ext cx="496519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244B36"/>
                </a:solidFill>
                <a:latin typeface="Aptos"/>
              </a:rPr>
              <a:t>[1] Hughes &amp; Salathé (2015)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2002536"/>
            <a:ext cx="4965192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1463F"/>
                </a:solidFill>
                <a:latin typeface="Aptos"/>
              </a:rPr>
              <a:t>An open access repository of images on plant health to enable mobile disease diagnostics.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2596896"/>
            <a:ext cx="496519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7343"/>
                </a:solidFill>
                <a:latin typeface="Aptos"/>
              </a:rPr>
              <a:t>arxiv.org/abs/1511.08060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3054096"/>
            <a:ext cx="5294376" cy="1335024"/>
          </a:xfrm>
          <a:prstGeom prst="rect">
            <a:avLst/>
          </a:prstGeom>
          <a:solidFill>
            <a:srgbClr val="F5F2EB"/>
          </a:solidFill>
          <a:ln w="10160">
            <a:solidFill>
              <a:srgbClr val="D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3145536"/>
            <a:ext cx="496519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244B36"/>
                </a:solidFill>
                <a:latin typeface="Aptos"/>
              </a:rPr>
              <a:t>[2] Mohanty et al. (2016)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483863"/>
            <a:ext cx="4965192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1463F"/>
                </a:solidFill>
                <a:latin typeface="Aptos"/>
              </a:rPr>
              <a:t>Using deep learning for image-based plant disease detection. Frontiers in Plant Science, 7:1419.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078224"/>
            <a:ext cx="496519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7343"/>
                </a:solidFill>
                <a:latin typeface="Aptos"/>
              </a:rPr>
              <a:t>doi.org/10.3389/fpls.2016.01419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535424"/>
            <a:ext cx="5294376" cy="1335024"/>
          </a:xfrm>
          <a:prstGeom prst="rect">
            <a:avLst/>
          </a:prstGeom>
          <a:solidFill>
            <a:srgbClr val="F5F2EB"/>
          </a:solidFill>
          <a:ln w="10160">
            <a:solidFill>
              <a:srgbClr val="D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4626864"/>
            <a:ext cx="496519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244B36"/>
                </a:solidFill>
                <a:latin typeface="Aptos"/>
              </a:rPr>
              <a:t>[3] Ferentinos (2018)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965192"/>
            <a:ext cx="4965192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1463F"/>
                </a:solidFill>
                <a:latin typeface="Aptos"/>
              </a:rPr>
              <a:t>Deep learning models for plant disease detection and diagnosis. Comput. Electron. Agric., 145, 311–318.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559552"/>
            <a:ext cx="496519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7343"/>
                </a:solidFill>
                <a:latin typeface="Aptos"/>
              </a:rPr>
              <a:t>Computers and Electronics in Agriculture, 145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1572768"/>
            <a:ext cx="5294376" cy="1335024"/>
          </a:xfrm>
          <a:prstGeom prst="rect">
            <a:avLst/>
          </a:prstGeom>
          <a:solidFill>
            <a:srgbClr val="F5F2EB"/>
          </a:solidFill>
          <a:ln w="10160">
            <a:solidFill>
              <a:srgbClr val="D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9944" y="1664208"/>
            <a:ext cx="496519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244B36"/>
                </a:solidFill>
                <a:latin typeface="Aptos"/>
              </a:rPr>
              <a:t>[4] Too et al. (2019)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2002536"/>
            <a:ext cx="4965192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1463F"/>
                </a:solidFill>
                <a:latin typeface="Aptos"/>
              </a:rPr>
              <a:t>A comparative study of fine-tuning deep learning models for plant disease identification.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2596896"/>
            <a:ext cx="496519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7343"/>
                </a:solidFill>
                <a:latin typeface="Aptos"/>
              </a:rPr>
              <a:t>Computers and Electronics in Agriculture, 161, 272–279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3054096"/>
            <a:ext cx="5294376" cy="1335024"/>
          </a:xfrm>
          <a:prstGeom prst="rect">
            <a:avLst/>
          </a:prstGeom>
          <a:solidFill>
            <a:srgbClr val="F5F2EB"/>
          </a:solidFill>
          <a:ln w="10160">
            <a:solidFill>
              <a:srgbClr val="D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9944" y="3145536"/>
            <a:ext cx="496519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244B36"/>
                </a:solidFill>
                <a:latin typeface="Aptos"/>
              </a:rPr>
              <a:t>[5] Pacal et al. (2024)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4" y="3483863"/>
            <a:ext cx="4965192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1463F"/>
                </a:solidFill>
                <a:latin typeface="Aptos"/>
              </a:rPr>
              <a:t>A systematic review of deep learning techniques for plant diseases. Artificial Intelligence Review, 57:304.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4078224"/>
            <a:ext cx="496519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37343"/>
                </a:solidFill>
                <a:latin typeface="Aptos"/>
              </a:rPr>
              <a:t>doi.org/10.1007/s10462-024-10944-7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4535424"/>
            <a:ext cx="5294376" cy="1335024"/>
          </a:xfrm>
          <a:prstGeom prst="rect">
            <a:avLst/>
          </a:prstGeom>
          <a:solidFill>
            <a:srgbClr val="F5F2EB"/>
          </a:solidFill>
          <a:ln w="10160">
            <a:solidFill>
              <a:srgbClr val="D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4645396"/>
            <a:ext cx="4965192" cy="2646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dirty="0">
                <a:solidFill>
                  <a:srgbClr val="244B36"/>
                </a:solidFill>
                <a:latin typeface="Aptos"/>
              </a:rPr>
              <a:t>[6] </a:t>
            </a:r>
            <a:r>
              <a:rPr lang="en-US" sz="1540" b="1" dirty="0">
                <a:solidFill>
                  <a:srgbClr val="244B36"/>
                </a:solidFill>
                <a:latin typeface="Aptos"/>
              </a:rPr>
              <a:t>Kaggl</a:t>
            </a:r>
            <a:r>
              <a:rPr lang="en-US" sz="1400" b="1" dirty="0">
                <a:solidFill>
                  <a:srgbClr val="244B36"/>
                </a:solidFill>
                <a:latin typeface="Aptos"/>
              </a:rPr>
              <a:t>e: </a:t>
            </a:r>
            <a:r>
              <a:rPr lang="en-US" sz="1400" b="1" dirty="0" err="1">
                <a:solidFill>
                  <a:srgbClr val="244B36"/>
                </a:solidFill>
                <a:latin typeface="Aptos"/>
              </a:rPr>
              <a:t>PlantVillage</a:t>
            </a:r>
            <a:r>
              <a:rPr lang="en-US" sz="1400" b="1" dirty="0">
                <a:solidFill>
                  <a:srgbClr val="244B36"/>
                </a:solidFill>
                <a:latin typeface="Aptos"/>
              </a:rPr>
              <a:t> Dataset </a:t>
            </a:r>
            <a:r>
              <a:rPr lang="en-US" sz="1540" b="1" dirty="0">
                <a:solidFill>
                  <a:srgbClr val="244B36"/>
                </a:solidFill>
                <a:latin typeface="Aptos"/>
              </a:rPr>
              <a:t> </a:t>
            </a:r>
            <a:endParaRPr sz="1540" b="1" dirty="0">
              <a:solidFill>
                <a:srgbClr val="244B36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9944" y="5134097"/>
            <a:ext cx="4965192" cy="21082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41463F"/>
                </a:solidFill>
                <a:latin typeface="Aptos"/>
              </a:rPr>
              <a:t>PlantVillage</a:t>
            </a:r>
            <a:r>
              <a:rPr sz="1250" b="0" dirty="0">
                <a:solidFill>
                  <a:srgbClr val="41463F"/>
                </a:solidFill>
                <a:latin typeface="Aptos"/>
              </a:rPr>
              <a:t> dataset </a:t>
            </a:r>
            <a:r>
              <a:rPr lang="en-US" sz="1250" b="0" dirty="0">
                <a:solidFill>
                  <a:srgbClr val="41463F"/>
                </a:solidFill>
                <a:latin typeface="Aptos"/>
              </a:rPr>
              <a:t>of plant leaf images for plant disease classification</a:t>
            </a:r>
            <a:r>
              <a:rPr sz="1250" b="0" dirty="0">
                <a:solidFill>
                  <a:srgbClr val="41463F"/>
                </a:solidFill>
                <a:latin typeface="Aptos"/>
              </a:rPr>
              <a:t>.</a:t>
            </a:r>
            <a:endParaRPr lang="en-US" sz="1250" b="0" dirty="0">
              <a:solidFill>
                <a:srgbClr val="41463F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9944" y="5575921"/>
            <a:ext cx="4965192" cy="18671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A37343"/>
                </a:solidFill>
              </a:rPr>
              <a:t>kaggle.com/datasets/</a:t>
            </a:r>
            <a:r>
              <a:rPr lang="en-US" sz="1050" dirty="0" err="1">
                <a:solidFill>
                  <a:srgbClr val="A37343"/>
                </a:solidFill>
              </a:rPr>
              <a:t>abdallahalidev</a:t>
            </a:r>
            <a:r>
              <a:rPr lang="en-US" sz="1050" dirty="0">
                <a:solidFill>
                  <a:srgbClr val="A37343"/>
                </a:solidFill>
              </a:rPr>
              <a:t>/</a:t>
            </a:r>
            <a:r>
              <a:rPr lang="en-US" sz="1050" dirty="0" err="1">
                <a:solidFill>
                  <a:srgbClr val="A37343"/>
                </a:solidFill>
              </a:rPr>
              <a:t>plantvillage</a:t>
            </a:r>
            <a:r>
              <a:rPr lang="en-US" sz="1050" dirty="0">
                <a:solidFill>
                  <a:srgbClr val="A37343"/>
                </a:solidFill>
              </a:rPr>
              <a:t>-dataset</a:t>
            </a:r>
            <a:endParaRPr sz="1050" b="0" dirty="0">
              <a:solidFill>
                <a:srgbClr val="A37343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6656" y="6099048"/>
            <a:ext cx="108996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67166"/>
                </a:solidFill>
                <a:latin typeface="Aptos"/>
              </a:rPr>
              <a:t>Sources follow the bibliography of the supplied project research paper.</a:t>
            </a:r>
          </a:p>
        </p:txBody>
      </p:sp>
    </p:spTree>
    <p:extLst>
      <p:ext uri="{BB962C8B-B14F-4D97-AF65-F5344CB8AC3E}">
        <p14:creationId xmlns:p14="http://schemas.microsoft.com/office/powerpoint/2010/main" val="6095979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884</Words>
  <Application>Microsoft Office PowerPoint</Application>
  <DocSecurity>0</DocSecurity>
  <PresentationFormat>Widescreen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Nimbus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Vaidehi Bonde</cp:lastModifiedBy>
  <cp:revision>2</cp:revision>
  <dcterms:created xsi:type="dcterms:W3CDTF">2026-10-27T16:39:53Z</dcterms:created>
  <dcterms:modified xsi:type="dcterms:W3CDTF">2026-10-28T13:35:07Z</dcterms:modified>
</cp:coreProperties>
</file>